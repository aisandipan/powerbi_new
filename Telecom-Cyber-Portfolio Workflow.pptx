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3675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6233" y="256208"/>
            <a:ext cx="276225" cy="276225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1"/>
          <p:cNvSpPr/>
          <p:nvPr/>
        </p:nvSpPr>
        <p:spPr>
          <a:xfrm>
            <a:off x="6854309" y="266700"/>
            <a:ext cx="1832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60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445477" y="411063"/>
            <a:ext cx="12413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3"/>
              </a:spcBef>
              <a:buNone/>
            </a:pPr>
            <a:r>
              <a:rPr lang="en-US" sz="560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/ 2026</a:t>
            </a:r>
            <a:endParaRPr lang="en-US" sz="56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5852666" y="1234380"/>
            <a:ext cx="2833687" cy="23145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772397"/>
            <a:ext cx="19674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65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50" dirty="0"/>
          </a:p>
        </p:txBody>
      </p:sp>
      <p:sp>
        <p:nvSpPr>
          <p:cNvPr id="8" name="Text 4"/>
          <p:cNvSpPr/>
          <p:nvPr/>
        </p:nvSpPr>
        <p:spPr>
          <a:xfrm>
            <a:off x="914400" y="2577703"/>
            <a:ext cx="1204176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810"/>
              </a:spcAft>
              <a:buNone/>
            </a:pPr>
            <a:r>
              <a:rPr lang="en-US" sz="830" b="1" kern="0" spc="-8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Review</a:t>
            </a:r>
            <a:endParaRPr lang="en-US" sz="830" dirty="0"/>
          </a:p>
        </p:txBody>
      </p:sp>
      <p:sp>
        <p:nvSpPr>
          <p:cNvPr id="9" name="Text 5"/>
          <p:cNvSpPr/>
          <p:nvPr/>
        </p:nvSpPr>
        <p:spPr>
          <a:xfrm>
            <a:off x="914400" y="2795364"/>
            <a:ext cx="4657152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60" b="1" kern="0" spc="-11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2560" dirty="0"/>
          </a:p>
        </p:txBody>
      </p:sp>
      <p:sp>
        <p:nvSpPr>
          <p:cNvPr id="10" name="Text 6"/>
          <p:cNvSpPr/>
          <p:nvPr/>
        </p:nvSpPr>
        <p:spPr>
          <a:xfrm>
            <a:off x="914400" y="3132906"/>
            <a:ext cx="3635209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60" b="1" kern="0" spc="-115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| Executive Review</a:t>
            </a:r>
            <a:endParaRPr lang="en-US" sz="2560" dirty="0"/>
          </a:p>
        </p:txBody>
      </p:sp>
      <p:sp>
        <p:nvSpPr>
          <p:cNvPr id="11" name="Text 7"/>
          <p:cNvSpPr/>
          <p:nvPr/>
        </p:nvSpPr>
        <p:spPr>
          <a:xfrm>
            <a:off x="914400" y="3611389"/>
            <a:ext cx="6022323" cy="417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delivery is funded, but schedule risk is concentrated</a:t>
            </a:r>
            <a:endParaRPr lang="en-US" sz="13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integration-heavy work.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" y="4214813"/>
            <a:ext cx="262429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860" b="1" kern="0" spc="104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SNAPSHOT | 2026</a:t>
            </a:r>
            <a:endParaRPr lang="en-US" sz="860" dirty="0"/>
          </a:p>
        </p:txBody>
      </p:sp>
      <p:sp>
        <p:nvSpPr>
          <p:cNvPr id="13" name="Text 9"/>
          <p:cNvSpPr/>
          <p:nvPr/>
        </p:nvSpPr>
        <p:spPr>
          <a:xfrm>
            <a:off x="914400" y="4435599"/>
            <a:ext cx="61071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12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projects • $2.83M budget • 75.6% average milestone completion</a:t>
            </a:r>
            <a:endParaRPr lang="en-US" sz="11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6233" y="256208"/>
            <a:ext cx="276225" cy="276225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1"/>
          <p:cNvSpPr/>
          <p:nvPr/>
        </p:nvSpPr>
        <p:spPr>
          <a:xfrm>
            <a:off x="6854309" y="266700"/>
            <a:ext cx="1832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60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445477" y="411063"/>
            <a:ext cx="12413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3"/>
              </a:spcBef>
              <a:buNone/>
            </a:pPr>
            <a:r>
              <a:rPr lang="en-US" sz="560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/ 2026</a:t>
            </a:r>
            <a:endParaRPr lang="en-US" sz="560" dirty="0"/>
          </a:p>
        </p:txBody>
      </p:sp>
      <p:sp>
        <p:nvSpPr>
          <p:cNvPr id="6" name="Text 3"/>
          <p:cNvSpPr/>
          <p:nvPr/>
        </p:nvSpPr>
        <p:spPr>
          <a:xfrm>
            <a:off x="457200" y="4772397"/>
            <a:ext cx="21802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65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14400" y="785813"/>
            <a:ext cx="1822624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OVERVIEW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914400" y="975717"/>
            <a:ext cx="748848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funded portfolio with a split health picture</a:t>
            </a:r>
            <a:endParaRPr lang="en-US" sz="2270" dirty="0"/>
          </a:p>
        </p:txBody>
      </p:sp>
      <p:sp>
        <p:nvSpPr>
          <p:cNvPr id="9" name="Shape 6"/>
          <p:cNvSpPr/>
          <p:nvPr/>
        </p:nvSpPr>
        <p:spPr>
          <a:xfrm>
            <a:off x="913879" y="1565858"/>
            <a:ext cx="2466975" cy="1704975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01998" y="1766739"/>
            <a:ext cx="205982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CYBER PROGRAMS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1101998" y="1953816"/>
            <a:ext cx="562994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020" b="1" kern="0" spc="-18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3020" dirty="0"/>
          </a:p>
        </p:txBody>
      </p:sp>
      <p:sp>
        <p:nvSpPr>
          <p:cNvPr id="12" name="Text 9"/>
          <p:cNvSpPr/>
          <p:nvPr/>
        </p:nvSpPr>
        <p:spPr>
          <a:xfrm>
            <a:off x="1101998" y="2417638"/>
            <a:ext cx="20557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active cyber security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1101998" y="2582168"/>
            <a:ext cx="73712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3562499" y="1565858"/>
            <a:ext cx="2243138" cy="1704975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50766" y="1766739"/>
            <a:ext cx="142502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HEALTH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3750766" y="1953816"/>
            <a:ext cx="370872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20" b="1" kern="0" spc="-18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020" dirty="0"/>
          </a:p>
        </p:txBody>
      </p:sp>
      <p:sp>
        <p:nvSpPr>
          <p:cNvPr id="17" name="Text 14"/>
          <p:cNvSpPr/>
          <p:nvPr/>
        </p:nvSpPr>
        <p:spPr>
          <a:xfrm>
            <a:off x="3750766" y="2402160"/>
            <a:ext cx="82089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Track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475411" y="1953816"/>
            <a:ext cx="355104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20" b="1" kern="0" spc="-18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20" dirty="0"/>
          </a:p>
        </p:txBody>
      </p:sp>
      <p:sp>
        <p:nvSpPr>
          <p:cNvPr id="19" name="Text 16"/>
          <p:cNvSpPr/>
          <p:nvPr/>
        </p:nvSpPr>
        <p:spPr>
          <a:xfrm>
            <a:off x="4475411" y="2402160"/>
            <a:ext cx="7403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138068" y="1953816"/>
            <a:ext cx="355104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20" b="1" kern="0" spc="-18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020" dirty="0"/>
          </a:p>
        </p:txBody>
      </p:sp>
      <p:sp>
        <p:nvSpPr>
          <p:cNvPr id="21" name="Text 18"/>
          <p:cNvSpPr/>
          <p:nvPr/>
        </p:nvSpPr>
        <p:spPr>
          <a:xfrm>
            <a:off x="5138068" y="2402160"/>
            <a:ext cx="63506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8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Risk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3750766" y="2688580"/>
            <a:ext cx="2390864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8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On Track | 3 Delayed | 3 At Risk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5987132" y="1565858"/>
            <a:ext cx="2243138" cy="1704975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75400" y="1766739"/>
            <a:ext cx="164694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POSITION</a:t>
            </a:r>
            <a:endParaRPr lang="en-US" sz="790" dirty="0"/>
          </a:p>
        </p:txBody>
      </p:sp>
      <p:sp>
        <p:nvSpPr>
          <p:cNvPr id="25" name="Text 22"/>
          <p:cNvSpPr/>
          <p:nvPr/>
        </p:nvSpPr>
        <p:spPr>
          <a:xfrm>
            <a:off x="6175400" y="2044303"/>
            <a:ext cx="139881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70" b="1" kern="0" spc="-113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$2.83M</a:t>
            </a:r>
            <a:endParaRPr lang="en-US" sz="2270" dirty="0"/>
          </a:p>
        </p:txBody>
      </p:sp>
      <p:sp>
        <p:nvSpPr>
          <p:cNvPr id="26" name="Text 23"/>
          <p:cNvSpPr/>
          <p:nvPr/>
        </p:nvSpPr>
        <p:spPr>
          <a:xfrm>
            <a:off x="7271445" y="2220516"/>
            <a:ext cx="55303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6175400" y="2503959"/>
            <a:ext cx="18263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04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$2.79M actual spend</a:t>
            </a:r>
            <a:endParaRPr lang="en-US" sz="1040" dirty="0"/>
          </a:p>
        </p:txBody>
      </p:sp>
      <p:sp>
        <p:nvSpPr>
          <p:cNvPr id="28" name="Text 25"/>
          <p:cNvSpPr/>
          <p:nvPr/>
        </p:nvSpPr>
        <p:spPr>
          <a:xfrm>
            <a:off x="6175400" y="2774826"/>
            <a:ext cx="2036125" cy="29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4"/>
              </a:lnSpc>
              <a:buNone/>
            </a:pPr>
            <a:r>
              <a:rPr lang="en-US" sz="8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spend is $40K under</a:t>
            </a:r>
            <a:endParaRPr lang="en-US" sz="850" dirty="0"/>
          </a:p>
          <a:p>
            <a:pPr marL="0" indent="0" algn="l">
              <a:lnSpc>
                <a:spcPts val="1274"/>
              </a:lnSpc>
              <a:buNone/>
            </a:pPr>
            <a:r>
              <a:rPr lang="en-US" sz="8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(−1.4%)</a:t>
            </a:r>
            <a:endParaRPr lang="en-US" sz="8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613" y="3528045"/>
            <a:ext cx="1133475" cy="1133475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1658913" y="3642345"/>
            <a:ext cx="904875" cy="904875"/>
          </a:xfrm>
          <a:prstGeom prst="ellipse">
            <a:avLst/>
          </a:prstGeom>
          <a:solidFill>
            <a:srgbClr val="FBFCFE"/>
          </a:solidFill>
          <a:ln/>
        </p:spPr>
      </p:sp>
      <p:sp>
        <p:nvSpPr>
          <p:cNvPr id="31" name="Text 27"/>
          <p:cNvSpPr/>
          <p:nvPr/>
        </p:nvSpPr>
        <p:spPr>
          <a:xfrm>
            <a:off x="1623763" y="3960058"/>
            <a:ext cx="975100" cy="27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860" b="1" kern="0" spc="69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endParaRPr lang="en-US" sz="860" dirty="0"/>
          </a:p>
          <a:p>
            <a:pPr marL="0" indent="0" algn="ctr">
              <a:lnSpc>
                <a:spcPts val="1080"/>
              </a:lnSpc>
              <a:buNone/>
            </a:pPr>
            <a:r>
              <a:rPr lang="en-US" sz="860" b="1" kern="0" spc="69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860" dirty="0"/>
          </a:p>
        </p:txBody>
      </p:sp>
      <p:sp>
        <p:nvSpPr>
          <p:cNvPr id="32" name="Shape 28"/>
          <p:cNvSpPr/>
          <p:nvPr/>
        </p:nvSpPr>
        <p:spPr>
          <a:xfrm>
            <a:off x="3581995" y="3642345"/>
            <a:ext cx="4648200" cy="904875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3733651" y="3793554"/>
            <a:ext cx="55172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signal: cost is controlled, but delivery is not</a:t>
            </a:r>
            <a:endParaRPr lang="en-US" sz="1190" dirty="0"/>
          </a:p>
        </p:txBody>
      </p:sp>
      <p:sp>
        <p:nvSpPr>
          <p:cNvPr id="34" name="Text 30"/>
          <p:cNvSpPr/>
          <p:nvPr/>
        </p:nvSpPr>
        <p:spPr>
          <a:xfrm>
            <a:off x="3733651" y="4052664"/>
            <a:ext cx="5649397" cy="31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27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RAG split and milestone gaps point to execution exposure rather than funding</a:t>
            </a:r>
            <a:endParaRPr lang="en-US" sz="880" dirty="0"/>
          </a:p>
          <a:p>
            <a:pPr marL="0" indent="0" algn="l">
              <a:lnSpc>
                <a:spcPts val="1427"/>
              </a:lnSpc>
              <a:buNone/>
            </a:pPr>
            <a:r>
              <a:rPr lang="en-US" sz="8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pressure.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6233" y="256208"/>
            <a:ext cx="276225" cy="276225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1"/>
          <p:cNvSpPr/>
          <p:nvPr/>
        </p:nvSpPr>
        <p:spPr>
          <a:xfrm>
            <a:off x="6854309" y="266700"/>
            <a:ext cx="1832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60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445477" y="411063"/>
            <a:ext cx="12413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3"/>
              </a:spcBef>
              <a:buNone/>
            </a:pPr>
            <a:r>
              <a:rPr lang="en-US" sz="560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/ 2026</a:t>
            </a:r>
            <a:endParaRPr lang="en-US" sz="560" dirty="0"/>
          </a:p>
        </p:txBody>
      </p:sp>
      <p:sp>
        <p:nvSpPr>
          <p:cNvPr id="6" name="Text 3"/>
          <p:cNvSpPr/>
          <p:nvPr/>
        </p:nvSpPr>
        <p:spPr>
          <a:xfrm>
            <a:off x="457200" y="4772397"/>
            <a:ext cx="2196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65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14400" y="734318"/>
            <a:ext cx="211274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PERFORMANCE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914400" y="924223"/>
            <a:ext cx="609816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exposure is concentrated</a:t>
            </a:r>
            <a:endParaRPr lang="en-US" sz="2270" dirty="0"/>
          </a:p>
        </p:txBody>
      </p:sp>
      <p:sp>
        <p:nvSpPr>
          <p:cNvPr id="9" name="Text 6"/>
          <p:cNvSpPr/>
          <p:nvPr/>
        </p:nvSpPr>
        <p:spPr>
          <a:xfrm>
            <a:off x="914400" y="1232371"/>
            <a:ext cx="449027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transformation projects</a:t>
            </a:r>
            <a:endParaRPr lang="en-US" sz="2270" dirty="0"/>
          </a:p>
        </p:txBody>
      </p:sp>
      <p:sp>
        <p:nvSpPr>
          <p:cNvPr id="10" name="Shape 7"/>
          <p:cNvSpPr/>
          <p:nvPr/>
        </p:nvSpPr>
        <p:spPr>
          <a:xfrm>
            <a:off x="913358" y="1811759"/>
            <a:ext cx="1947862" cy="2295525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01998" y="2013049"/>
            <a:ext cx="1666875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MILESTONE</a:t>
            </a:r>
            <a:endParaRPr lang="en-US" sz="79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1101998" y="2361307"/>
            <a:ext cx="1506483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3020" b="1" kern="0" spc="-18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endParaRPr lang="en-US" sz="3020" dirty="0"/>
          </a:p>
        </p:txBody>
      </p:sp>
      <p:sp>
        <p:nvSpPr>
          <p:cNvPr id="13" name="Text 10"/>
          <p:cNvSpPr/>
          <p:nvPr/>
        </p:nvSpPr>
        <p:spPr>
          <a:xfrm>
            <a:off x="1101998" y="2879378"/>
            <a:ext cx="1873701" cy="509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Against a 100% planned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baseline across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portfolio.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101737" y="3738376"/>
            <a:ext cx="47625" cy="61912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15" name="Text 12"/>
          <p:cNvSpPr/>
          <p:nvPr/>
        </p:nvSpPr>
        <p:spPr>
          <a:xfrm>
            <a:off x="1222251" y="3632746"/>
            <a:ext cx="1791764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8"/>
              </a:lnSpc>
              <a:buNone/>
            </a:pPr>
            <a:r>
              <a:rPr lang="en-US" sz="790" b="1" kern="0" spc="63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GAPS SHOWN</a:t>
            </a:r>
            <a:endParaRPr lang="en-US" sz="790" dirty="0"/>
          </a:p>
          <a:p>
            <a:pPr marL="0" indent="0" algn="l">
              <a:lnSpc>
                <a:spcPts val="1188"/>
              </a:lnSpc>
              <a:buNone/>
            </a:pPr>
            <a:r>
              <a:rPr lang="en-US" sz="790" b="1" kern="0" spc="63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RIGHT</a:t>
            </a:r>
            <a:endParaRPr lang="en-US" sz="790" dirty="0"/>
          </a:p>
        </p:txBody>
      </p:sp>
      <p:sp>
        <p:nvSpPr>
          <p:cNvPr id="16" name="Shape 13"/>
          <p:cNvSpPr/>
          <p:nvPr/>
        </p:nvSpPr>
        <p:spPr>
          <a:xfrm>
            <a:off x="3225068" y="1811201"/>
            <a:ext cx="5005388" cy="2343150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413522" y="2013049"/>
            <a:ext cx="269433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COMPLETION BY PROJECT</a:t>
            </a:r>
            <a:endParaRPr lang="en-US" sz="790" dirty="0"/>
          </a:p>
        </p:txBody>
      </p:sp>
      <p:sp>
        <p:nvSpPr>
          <p:cNvPr id="18" name="Text 15"/>
          <p:cNvSpPr/>
          <p:nvPr/>
        </p:nvSpPr>
        <p:spPr>
          <a:xfrm>
            <a:off x="7420421" y="2011710"/>
            <a:ext cx="86520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PLAN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3413522" y="2353419"/>
            <a:ext cx="24735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Security Assessment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630466" y="2353419"/>
            <a:ext cx="319214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60.0% complete (−40.0 pts vs plan)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3413187" y="2575359"/>
            <a:ext cx="4629150" cy="80962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22" name="Shape 19"/>
          <p:cNvSpPr/>
          <p:nvPr/>
        </p:nvSpPr>
        <p:spPr>
          <a:xfrm>
            <a:off x="3413782" y="2575359"/>
            <a:ext cx="2776537" cy="80962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23" name="Text 20"/>
          <p:cNvSpPr/>
          <p:nvPr/>
        </p:nvSpPr>
        <p:spPr>
          <a:xfrm>
            <a:off x="3413522" y="2790453"/>
            <a:ext cx="13753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 Migration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6159624" y="2790453"/>
            <a:ext cx="25042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63.8% complete (−36.2 pts)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3413187" y="3012393"/>
            <a:ext cx="4629150" cy="80962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26" name="Shape 23"/>
          <p:cNvSpPr/>
          <p:nvPr/>
        </p:nvSpPr>
        <p:spPr>
          <a:xfrm>
            <a:off x="3413596" y="3012393"/>
            <a:ext cx="2952750" cy="8096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7" name="Text 24"/>
          <p:cNvSpPr/>
          <p:nvPr/>
        </p:nvSpPr>
        <p:spPr>
          <a:xfrm>
            <a:off x="3413522" y="3227487"/>
            <a:ext cx="148471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DDoS Protection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6160591" y="3227487"/>
            <a:ext cx="250298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65.0% complete (−35.0 pts)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3413187" y="3449427"/>
            <a:ext cx="4629150" cy="80962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30" name="Shape 27"/>
          <p:cNvSpPr/>
          <p:nvPr/>
        </p:nvSpPr>
        <p:spPr>
          <a:xfrm>
            <a:off x="3412815" y="3449427"/>
            <a:ext cx="3009900" cy="80962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31" name="Text 28"/>
          <p:cNvSpPr/>
          <p:nvPr/>
        </p:nvSpPr>
        <p:spPr>
          <a:xfrm>
            <a:off x="3413522" y="3664521"/>
            <a:ext cx="281274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Privileged Access Management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6159624" y="3664521"/>
            <a:ext cx="250424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66.2% complete (−33.8 pts)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3413187" y="3886460"/>
            <a:ext cx="4629150" cy="80962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34" name="Shape 31"/>
          <p:cNvSpPr/>
          <p:nvPr/>
        </p:nvSpPr>
        <p:spPr>
          <a:xfrm>
            <a:off x="3414378" y="3886460"/>
            <a:ext cx="3062287" cy="80962"/>
          </a:xfrm>
          <a:prstGeom prst="rect">
            <a:avLst/>
          </a:prstGeom>
          <a:solidFill>
            <a:srgbClr val="98C1D9"/>
          </a:solidFill>
          <a:ln/>
        </p:spPr>
      </p:sp>
      <p:sp>
        <p:nvSpPr>
          <p:cNvPr id="35" name="Shape 32"/>
          <p:cNvSpPr/>
          <p:nvPr/>
        </p:nvSpPr>
        <p:spPr>
          <a:xfrm>
            <a:off x="914400" y="4381612"/>
            <a:ext cx="7315200" cy="271463"/>
          </a:xfrm>
          <a:prstGeom prst="rect">
            <a:avLst/>
          </a:prstGeom>
          <a:ln/>
        </p:spPr>
      </p:sp>
      <p:sp>
        <p:nvSpPr>
          <p:cNvPr id="36" name="Shape 33"/>
          <p:cNvSpPr/>
          <p:nvPr/>
        </p:nvSpPr>
        <p:spPr>
          <a:xfrm>
            <a:off x="915330" y="4530291"/>
            <a:ext cx="66675" cy="66675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37" name="Text 34"/>
          <p:cNvSpPr/>
          <p:nvPr/>
        </p:nvSpPr>
        <p:spPr>
          <a:xfrm>
            <a:off x="1074316" y="4488284"/>
            <a:ext cx="722091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critical path is slowing where integrations, vendors and specialist skills converge</a:t>
            </a:r>
            <a:endParaRPr lang="en-US" sz="1040" dirty="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3187" y="1998092"/>
            <a:ext cx="4629150" cy="223838"/>
          </a:xfrm>
          <a:prstGeom prst="rect">
            <a:avLst/>
          </a:prstGeom>
        </p:spPr>
      </p:pic>
      <p:pic>
        <p:nvPicPr>
          <p:cNvPr id="3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381612"/>
            <a:ext cx="7315200" cy="2714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6233" y="256208"/>
            <a:ext cx="276225" cy="276225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1"/>
          <p:cNvSpPr/>
          <p:nvPr/>
        </p:nvSpPr>
        <p:spPr>
          <a:xfrm>
            <a:off x="6854309" y="266700"/>
            <a:ext cx="1832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60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445477" y="411063"/>
            <a:ext cx="12413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3"/>
              </a:spcBef>
              <a:buNone/>
            </a:pPr>
            <a:r>
              <a:rPr lang="en-US" sz="560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/ 2026</a:t>
            </a:r>
            <a:endParaRPr lang="en-US" sz="560" dirty="0"/>
          </a:p>
        </p:txBody>
      </p:sp>
      <p:sp>
        <p:nvSpPr>
          <p:cNvPr id="6" name="Text 3"/>
          <p:cNvSpPr/>
          <p:nvPr/>
        </p:nvSpPr>
        <p:spPr>
          <a:xfrm>
            <a:off x="457200" y="4772397"/>
            <a:ext cx="22295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65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14400" y="734318"/>
            <a:ext cx="179331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EXPOSURE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914400" y="924223"/>
            <a:ext cx="710492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Underspend is masking delivery slippage</a:t>
            </a:r>
            <a:endParaRPr lang="en-US" sz="2270" dirty="0"/>
          </a:p>
        </p:txBody>
      </p:sp>
      <p:sp>
        <p:nvSpPr>
          <p:cNvPr id="9" name="Shape 6"/>
          <p:cNvSpPr/>
          <p:nvPr/>
        </p:nvSpPr>
        <p:spPr>
          <a:xfrm>
            <a:off x="913581" y="1513731"/>
            <a:ext cx="2395538" cy="2895600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01998" y="1715244"/>
            <a:ext cx="2327501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DELAYED-PROJECT VARIANCE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1101998" y="1912590"/>
            <a:ext cx="1578746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91"/>
              </a:spcBef>
              <a:buNone/>
            </a:pPr>
            <a:r>
              <a:rPr lang="en-US" sz="3020" b="1" kern="0" spc="-18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+$70K</a:t>
            </a:r>
            <a:endParaRPr lang="en-US" sz="3020" dirty="0"/>
          </a:p>
        </p:txBody>
      </p:sp>
      <p:sp>
        <p:nvSpPr>
          <p:cNvPr id="12" name="Text 9"/>
          <p:cNvSpPr/>
          <p:nvPr/>
        </p:nvSpPr>
        <p:spPr>
          <a:xfrm>
            <a:off x="1101998" y="2410123"/>
            <a:ext cx="2331564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projects are collectively</a:t>
            </a:r>
            <a:endParaRPr lang="en-US" sz="9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90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$70K over budget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01700" y="3202893"/>
            <a:ext cx="2019300" cy="1019175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1101998" y="3324746"/>
            <a:ext cx="1438476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TOTAL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1101998" y="3546128"/>
            <a:ext cx="1031401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840" b="1" kern="0" spc="-92" dirty="0">
                <a:solidFill>
                  <a:srgbClr val="2F7D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−$40K</a:t>
            </a:r>
            <a:endParaRPr lang="en-US" sz="1840" dirty="0"/>
          </a:p>
        </p:txBody>
      </p:sp>
      <p:sp>
        <p:nvSpPr>
          <p:cNvPr id="16" name="Text 13"/>
          <p:cNvSpPr/>
          <p:nvPr/>
        </p:nvSpPr>
        <p:spPr>
          <a:xfrm>
            <a:off x="1101998" y="3912691"/>
            <a:ext cx="2174751" cy="29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74"/>
              </a:lnSpc>
              <a:buNone/>
            </a:pPr>
            <a:r>
              <a:rPr lang="en-US" sz="8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total is still $40K under</a:t>
            </a:r>
            <a:endParaRPr lang="en-US" sz="850" dirty="0"/>
          </a:p>
          <a:p>
            <a:pPr marL="0" indent="0" algn="l">
              <a:lnSpc>
                <a:spcPts val="1274"/>
              </a:lnSpc>
              <a:buNone/>
            </a:pPr>
            <a:r>
              <a:rPr lang="en-US" sz="85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581995" y="1513731"/>
            <a:ext cx="4648200" cy="2895600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70188" y="1715244"/>
            <a:ext cx="275624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PROJECT COST VARIANCE</a:t>
            </a:r>
            <a:endParaRPr lang="en-US" sz="790" dirty="0"/>
          </a:p>
        </p:txBody>
      </p:sp>
      <p:sp>
        <p:nvSpPr>
          <p:cNvPr id="19" name="Text 16"/>
          <p:cNvSpPr/>
          <p:nvPr/>
        </p:nvSpPr>
        <p:spPr>
          <a:xfrm>
            <a:off x="7148513" y="1713905"/>
            <a:ext cx="1218687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60" b="1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BUDGET IMPACT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3770188" y="2060749"/>
            <a:ext cx="148471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DDoS Protection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7007498" y="2060749"/>
            <a:ext cx="140200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+$30K | +9.4%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3770114" y="2282689"/>
            <a:ext cx="4271963" cy="80962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23" name="Shape 20"/>
          <p:cNvSpPr/>
          <p:nvPr/>
        </p:nvSpPr>
        <p:spPr>
          <a:xfrm>
            <a:off x="3770114" y="2282689"/>
            <a:ext cx="4271963" cy="80962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24" name="Text 21"/>
          <p:cNvSpPr/>
          <p:nvPr/>
        </p:nvSpPr>
        <p:spPr>
          <a:xfrm>
            <a:off x="3770188" y="2502917"/>
            <a:ext cx="24735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Security Assessment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6974309" y="2502917"/>
            <a:ext cx="144515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+$25K | +16.7%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3770114" y="2724857"/>
            <a:ext cx="4271963" cy="80962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27" name="Shape 24"/>
          <p:cNvSpPr/>
          <p:nvPr/>
        </p:nvSpPr>
        <p:spPr>
          <a:xfrm>
            <a:off x="3771305" y="2724857"/>
            <a:ext cx="3543300" cy="80962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28" name="Text 25"/>
          <p:cNvSpPr/>
          <p:nvPr/>
        </p:nvSpPr>
        <p:spPr>
          <a:xfrm>
            <a:off x="3770188" y="2945085"/>
            <a:ext cx="232643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NextGen Firewall Upgrade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7048500" y="2945085"/>
            <a:ext cx="134870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+$15K | +6.0%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3770114" y="3167025"/>
            <a:ext cx="4271963" cy="80962"/>
          </a:xfrm>
          <a:prstGeom prst="rect">
            <a:avLst/>
          </a:prstGeom>
          <a:solidFill>
            <a:srgbClr val="E8EEF3"/>
          </a:solidFill>
          <a:ln/>
        </p:spPr>
      </p:sp>
      <p:sp>
        <p:nvSpPr>
          <p:cNvPr id="31" name="Shape 28"/>
          <p:cNvSpPr/>
          <p:nvPr/>
        </p:nvSpPr>
        <p:spPr>
          <a:xfrm>
            <a:off x="3771342" y="3167025"/>
            <a:ext cx="2133600" cy="80962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32" name="Shape 29"/>
          <p:cNvSpPr/>
          <p:nvPr/>
        </p:nvSpPr>
        <p:spPr>
          <a:xfrm>
            <a:off x="3770114" y="3402285"/>
            <a:ext cx="4271963" cy="819150"/>
          </a:xfrm>
          <a:prstGeom prst="rect">
            <a:avLst/>
          </a:prstGeom>
          <a:ln/>
        </p:spPr>
      </p:sp>
      <p:sp>
        <p:nvSpPr>
          <p:cNvPr id="33" name="Text 30"/>
          <p:cNvSpPr/>
          <p:nvPr/>
        </p:nvSpPr>
        <p:spPr>
          <a:xfrm>
            <a:off x="3770188" y="3514024"/>
            <a:ext cx="2619941" cy="70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total is still $40K</a:t>
            </a:r>
            <a:endParaRPr lang="en-US" sz="108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budget because several</a:t>
            </a:r>
            <a:endParaRPr lang="en-US" sz="108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are underspending</a:t>
            </a:r>
            <a:endParaRPr lang="en-US" sz="108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behind plan</a:t>
            </a:r>
            <a:endParaRPr lang="en-US" sz="1080" dirty="0"/>
          </a:p>
        </p:txBody>
      </p:sp>
      <p:sp>
        <p:nvSpPr>
          <p:cNvPr id="34" name="Text 31"/>
          <p:cNvSpPr/>
          <p:nvPr/>
        </p:nvSpPr>
        <p:spPr>
          <a:xfrm>
            <a:off x="5997476" y="3509218"/>
            <a:ext cx="168622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underspend as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997476" y="3664595"/>
            <a:ext cx="211032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unconsumed delivery, not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5997476" y="3819971"/>
            <a:ext cx="672792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savings</a:t>
            </a:r>
            <a:endParaRPr lang="en-US" sz="98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00" y="3202893"/>
            <a:ext cx="2019300" cy="1019175"/>
          </a:xfrm>
          <a:prstGeom prst="rect">
            <a:avLst/>
          </a:prstGeom>
        </p:spPr>
      </p:pic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0114" y="1700287"/>
            <a:ext cx="4271963" cy="223838"/>
          </a:xfrm>
          <a:prstGeom prst="rect">
            <a:avLst/>
          </a:prstGeom>
        </p:spPr>
      </p:pic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0114" y="3402285"/>
            <a:ext cx="4271963" cy="81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6233" y="256208"/>
            <a:ext cx="276225" cy="276225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1"/>
          <p:cNvSpPr/>
          <p:nvPr/>
        </p:nvSpPr>
        <p:spPr>
          <a:xfrm>
            <a:off x="6854309" y="266700"/>
            <a:ext cx="1832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60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445477" y="411063"/>
            <a:ext cx="12413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3"/>
              </a:spcBef>
              <a:buNone/>
            </a:pPr>
            <a:r>
              <a:rPr lang="en-US" sz="560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/ 2026</a:t>
            </a:r>
            <a:endParaRPr lang="en-US" sz="560" dirty="0"/>
          </a:p>
        </p:txBody>
      </p:sp>
      <p:sp>
        <p:nvSpPr>
          <p:cNvPr id="6" name="Text 3"/>
          <p:cNvSpPr/>
          <p:nvPr/>
        </p:nvSpPr>
        <p:spPr>
          <a:xfrm>
            <a:off x="457200" y="4772397"/>
            <a:ext cx="217155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65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14400" y="734318"/>
            <a:ext cx="272190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AND ISSUE CONCENTRATION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914400" y="924223"/>
            <a:ext cx="412364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is clustered around</a:t>
            </a:r>
            <a:endParaRPr lang="en-US" sz="2270" dirty="0"/>
          </a:p>
        </p:txBody>
      </p:sp>
      <p:sp>
        <p:nvSpPr>
          <p:cNvPr id="9" name="Text 6"/>
          <p:cNvSpPr/>
          <p:nvPr/>
        </p:nvSpPr>
        <p:spPr>
          <a:xfrm>
            <a:off x="914400" y="1232371"/>
            <a:ext cx="421583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and capacity</a:t>
            </a:r>
            <a:endParaRPr lang="en-US" sz="2270" dirty="0"/>
          </a:p>
        </p:txBody>
      </p:sp>
      <p:sp>
        <p:nvSpPr>
          <p:cNvPr id="10" name="Shape 7"/>
          <p:cNvSpPr/>
          <p:nvPr/>
        </p:nvSpPr>
        <p:spPr>
          <a:xfrm>
            <a:off x="915033" y="1812206"/>
            <a:ext cx="1957388" cy="2728913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101998" y="2013049"/>
            <a:ext cx="2076078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RISK REGISTER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1101998" y="2200126"/>
            <a:ext cx="533973" cy="4619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3020" b="1" kern="0" spc="-18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3020" dirty="0"/>
          </a:p>
        </p:txBody>
      </p:sp>
      <p:sp>
        <p:nvSpPr>
          <p:cNvPr id="13" name="Text 10"/>
          <p:cNvSpPr/>
          <p:nvPr/>
        </p:nvSpPr>
        <p:spPr>
          <a:xfrm>
            <a:off x="1101998" y="2682999"/>
            <a:ext cx="1147971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91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risks logged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1103151" y="2996133"/>
            <a:ext cx="1581150" cy="614363"/>
          </a:xfrm>
          <a:prstGeom prst="rect">
            <a:avLst/>
          </a:prstGeom>
          <a:ln/>
        </p:spPr>
      </p:sp>
      <p:sp>
        <p:nvSpPr>
          <p:cNvPr id="15" name="Text 12"/>
          <p:cNvSpPr/>
          <p:nvPr/>
        </p:nvSpPr>
        <p:spPr>
          <a:xfrm>
            <a:off x="1101998" y="3131939"/>
            <a:ext cx="217058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90" dirty="0">
                <a:solidFill>
                  <a:srgbClr val="C989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01998" y="3460552"/>
            <a:ext cx="143615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score-9 risks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1103151" y="3739828"/>
            <a:ext cx="1581150" cy="614363"/>
          </a:xfrm>
          <a:prstGeom prst="rect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1101998" y="3875633"/>
            <a:ext cx="289806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90" dirty="0">
                <a:solidFill>
                  <a:srgbClr val="EE6C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01998" y="4204246"/>
            <a:ext cx="39737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3192066" y="1812020"/>
            <a:ext cx="1595437" cy="1166812"/>
          </a:xfrm>
          <a:prstGeom prst="rect">
            <a:avLst/>
          </a:prstGeom>
          <a:solidFill>
            <a:srgbClr val="F2F5F8">
              <a:alpha val="72000"/>
            </a:srgbClr>
          </a:solidFill>
          <a:ln w="4763">
            <a:solidFill>
              <a:srgbClr val="DBE3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16635" y="1949053"/>
            <a:ext cx="95720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3316635" y="2170584"/>
            <a:ext cx="16379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log-source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3316635" y="2341959"/>
            <a:ext cx="175626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and PAM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3316635" y="2513335"/>
            <a:ext cx="145376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compatibility are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3316635" y="2684711"/>
            <a:ext cx="159606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exposures.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4913561" y="1812020"/>
            <a:ext cx="1595437" cy="1166812"/>
          </a:xfrm>
          <a:prstGeom prst="rect">
            <a:avLst/>
          </a:prstGeom>
          <a:solidFill>
            <a:srgbClr val="F2F5F8">
              <a:alpha val="72000"/>
            </a:srgbClr>
          </a:solidFill>
          <a:ln w="4763">
            <a:solidFill>
              <a:srgbClr val="DBE3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38130" y="1949053"/>
            <a:ext cx="7979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5038130" y="2170584"/>
            <a:ext cx="131958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and cloud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5038130" y="2341959"/>
            <a:ext cx="157787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specialist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5038130" y="2513335"/>
            <a:ext cx="121859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shortages are</a:t>
            </a:r>
            <a:endParaRPr lang="en-US" sz="1080" dirty="0"/>
          </a:p>
        </p:txBody>
      </p:sp>
      <p:sp>
        <p:nvSpPr>
          <p:cNvPr id="31" name="Text 28"/>
          <p:cNvSpPr/>
          <p:nvPr/>
        </p:nvSpPr>
        <p:spPr>
          <a:xfrm>
            <a:off x="5038130" y="2684711"/>
            <a:ext cx="162169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slowing execution.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6635093" y="1812020"/>
            <a:ext cx="1595437" cy="1166812"/>
          </a:xfrm>
          <a:prstGeom prst="rect">
            <a:avLst/>
          </a:prstGeom>
          <a:solidFill>
            <a:srgbClr val="F2F5F8">
              <a:alpha val="72000"/>
            </a:srgbClr>
          </a:solidFill>
          <a:ln w="4763">
            <a:solidFill>
              <a:srgbClr val="DBE3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59625" y="1949053"/>
            <a:ext cx="65692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6759625" y="2170584"/>
            <a:ext cx="159645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Firewall and DDoS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6759625" y="2341959"/>
            <a:ext cx="105007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080" dirty="0"/>
          </a:p>
        </p:txBody>
      </p:sp>
      <p:sp>
        <p:nvSpPr>
          <p:cNvPr id="36" name="Text 33"/>
          <p:cNvSpPr/>
          <p:nvPr/>
        </p:nvSpPr>
        <p:spPr>
          <a:xfrm>
            <a:off x="6759625" y="2513335"/>
            <a:ext cx="125032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dependencies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6759625" y="2684711"/>
            <a:ext cx="161144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324"/>
              </a:spcBef>
              <a:buNone/>
            </a:pPr>
            <a:r>
              <a:rPr lang="en-US" sz="108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escalation.</a:t>
            </a:r>
            <a:endParaRPr lang="en-US" sz="1080" dirty="0"/>
          </a:p>
        </p:txBody>
      </p:sp>
      <p:sp>
        <p:nvSpPr>
          <p:cNvPr id="38" name="Shape 35"/>
          <p:cNvSpPr/>
          <p:nvPr/>
        </p:nvSpPr>
        <p:spPr>
          <a:xfrm>
            <a:off x="3191954" y="3133018"/>
            <a:ext cx="5038725" cy="1804988"/>
          </a:xfrm>
          <a:prstGeom prst="rect">
            <a:avLst/>
          </a:prstGeom>
          <a:solidFill>
            <a:srgbClr val="FBFCFE">
              <a:alpha val="88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3353172" y="3308375"/>
            <a:ext cx="1681869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PRIORITIES</a:t>
            </a:r>
            <a:endParaRPr lang="en-US" sz="790" dirty="0"/>
          </a:p>
        </p:txBody>
      </p:sp>
      <p:sp>
        <p:nvSpPr>
          <p:cNvPr id="40" name="Text 37"/>
          <p:cNvSpPr/>
          <p:nvPr/>
        </p:nvSpPr>
        <p:spPr>
          <a:xfrm>
            <a:off x="3503935" y="3512195"/>
            <a:ext cx="28058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steering priorities: legacy</a:t>
            </a:r>
            <a:endParaRPr lang="en-US" sz="1190" dirty="0"/>
          </a:p>
        </p:txBody>
      </p:sp>
      <p:sp>
        <p:nvSpPr>
          <p:cNvPr id="41" name="Text 38"/>
          <p:cNvSpPr/>
          <p:nvPr/>
        </p:nvSpPr>
        <p:spPr>
          <a:xfrm>
            <a:off x="3503935" y="3696295"/>
            <a:ext cx="21110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log-source integration</a:t>
            </a:r>
            <a:endParaRPr lang="en-US" sz="1190" dirty="0"/>
          </a:p>
        </p:txBody>
      </p:sp>
      <p:sp>
        <p:nvSpPr>
          <p:cNvPr id="42" name="Text 39"/>
          <p:cNvSpPr/>
          <p:nvPr/>
        </p:nvSpPr>
        <p:spPr>
          <a:xfrm>
            <a:off x="5939730" y="3512195"/>
            <a:ext cx="24820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engineering capacity</a:t>
            </a:r>
            <a:endParaRPr lang="en-US" sz="1190" dirty="0"/>
          </a:p>
        </p:txBody>
      </p:sp>
      <p:sp>
        <p:nvSpPr>
          <p:cNvPr id="43" name="Text 40"/>
          <p:cNvSpPr/>
          <p:nvPr/>
        </p:nvSpPr>
        <p:spPr>
          <a:xfrm>
            <a:off x="3503935" y="4035772"/>
            <a:ext cx="243391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DDoS vendor deployment</a:t>
            </a:r>
            <a:endParaRPr lang="en-US" sz="1190" dirty="0"/>
          </a:p>
        </p:txBody>
      </p:sp>
      <p:sp>
        <p:nvSpPr>
          <p:cNvPr id="44" name="Text 41"/>
          <p:cNvSpPr/>
          <p:nvPr/>
        </p:nvSpPr>
        <p:spPr>
          <a:xfrm>
            <a:off x="5939730" y="4035772"/>
            <a:ext cx="215143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Mitigation pattern: add</a:t>
            </a:r>
            <a:endParaRPr lang="en-US" sz="1190" dirty="0"/>
          </a:p>
        </p:txBody>
      </p:sp>
      <p:sp>
        <p:nvSpPr>
          <p:cNvPr id="45" name="Text 42"/>
          <p:cNvSpPr/>
          <p:nvPr/>
        </p:nvSpPr>
        <p:spPr>
          <a:xfrm>
            <a:off x="5939730" y="4219873"/>
            <a:ext cx="26948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specialist capacity, prioritize</a:t>
            </a:r>
            <a:endParaRPr lang="en-US" sz="1190" dirty="0"/>
          </a:p>
        </p:txBody>
      </p:sp>
      <p:sp>
        <p:nvSpPr>
          <p:cNvPr id="46" name="Text 43"/>
          <p:cNvSpPr/>
          <p:nvPr/>
        </p:nvSpPr>
        <p:spPr>
          <a:xfrm>
            <a:off x="5939730" y="4403973"/>
            <a:ext cx="228106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integrations, and</a:t>
            </a:r>
            <a:endParaRPr lang="en-US" sz="1190" dirty="0"/>
          </a:p>
        </p:txBody>
      </p:sp>
      <p:sp>
        <p:nvSpPr>
          <p:cNvPr id="47" name="Text 44"/>
          <p:cNvSpPr/>
          <p:nvPr/>
        </p:nvSpPr>
        <p:spPr>
          <a:xfrm>
            <a:off x="5939730" y="4588073"/>
            <a:ext cx="234684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 vendors weekly</a:t>
            </a:r>
            <a:endParaRPr lang="en-US" sz="1190" dirty="0"/>
          </a:p>
        </p:txBody>
      </p:sp>
      <p:sp>
        <p:nvSpPr>
          <p:cNvPr id="48" name="Shape 45"/>
          <p:cNvSpPr/>
          <p:nvPr/>
        </p:nvSpPr>
        <p:spPr>
          <a:xfrm>
            <a:off x="3191954" y="5076602"/>
            <a:ext cx="5038725" cy="452437"/>
          </a:xfrm>
          <a:prstGeom prst="rect">
            <a:avLst/>
          </a:prstGeom>
          <a:ln/>
        </p:spPr>
      </p:sp>
      <p:sp>
        <p:nvSpPr>
          <p:cNvPr id="49" name="Text 46"/>
          <p:cNvSpPr/>
          <p:nvPr/>
        </p:nvSpPr>
        <p:spPr>
          <a:xfrm>
            <a:off x="3193033" y="5187553"/>
            <a:ext cx="3762613" cy="321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owners: CISO, SOC Manager, SIEM Manager,</a:t>
            </a:r>
            <a:endParaRPr lang="en-US" sz="940" dirty="0"/>
          </a:p>
          <a:p>
            <a:pPr marL="0" indent="0" algn="l">
              <a:lnSpc>
                <a:spcPts val="1403"/>
              </a:lnSpc>
              <a:buNone/>
            </a:pPr>
            <a:r>
              <a:rPr lang="en-US" sz="94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Manager</a:t>
            </a:r>
            <a:endParaRPr lang="en-US" sz="940" dirty="0"/>
          </a:p>
        </p:txBody>
      </p:sp>
      <p:sp>
        <p:nvSpPr>
          <p:cNvPr id="50" name="Text 47"/>
          <p:cNvSpPr/>
          <p:nvPr/>
        </p:nvSpPr>
        <p:spPr>
          <a:xfrm>
            <a:off x="6441653" y="5208091"/>
            <a:ext cx="2163529" cy="281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66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EXPOSURE REQUIRES</a:t>
            </a:r>
            <a:endParaRPr lang="en-US" sz="83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830" b="1" kern="0" spc="66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830" dirty="0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151" y="2996133"/>
            <a:ext cx="1581150" cy="614363"/>
          </a:xfrm>
          <a:prstGeom prst="rect">
            <a:avLst/>
          </a:prstGeom>
        </p:spPr>
      </p:pic>
      <p:pic>
        <p:nvPicPr>
          <p:cNvPr id="5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3151" y="3739828"/>
            <a:ext cx="1581150" cy="614363"/>
          </a:xfrm>
          <a:prstGeom prst="rect">
            <a:avLst/>
          </a:prstGeom>
        </p:spPr>
      </p:pic>
      <p:pic>
        <p:nvPicPr>
          <p:cNvPr id="5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1954" y="5076602"/>
            <a:ext cx="5038725" cy="4524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6233" y="256208"/>
            <a:ext cx="276225" cy="276225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1"/>
          <p:cNvSpPr/>
          <p:nvPr/>
        </p:nvSpPr>
        <p:spPr>
          <a:xfrm>
            <a:off x="6854309" y="266700"/>
            <a:ext cx="1832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60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445477" y="411063"/>
            <a:ext cx="1241323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3"/>
              </a:spcBef>
              <a:buNone/>
            </a:pPr>
            <a:r>
              <a:rPr lang="en-US" sz="560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/ 2026</a:t>
            </a:r>
            <a:endParaRPr lang="en-US" sz="560" dirty="0"/>
          </a:p>
        </p:txBody>
      </p:sp>
      <p:sp>
        <p:nvSpPr>
          <p:cNvPr id="6" name="Text 3"/>
          <p:cNvSpPr/>
          <p:nvPr/>
        </p:nvSpPr>
        <p:spPr>
          <a:xfrm>
            <a:off x="457200" y="4772397"/>
            <a:ext cx="220057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65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14400" y="734318"/>
            <a:ext cx="184439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ACTION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914400" y="924223"/>
            <a:ext cx="79869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decisions to restore delivery confidence</a:t>
            </a:r>
            <a:endParaRPr lang="en-US" sz="2270" dirty="0"/>
          </a:p>
        </p:txBody>
      </p:sp>
      <p:sp>
        <p:nvSpPr>
          <p:cNvPr id="9" name="Shape 6"/>
          <p:cNvSpPr/>
          <p:nvPr/>
        </p:nvSpPr>
        <p:spPr>
          <a:xfrm>
            <a:off x="915367" y="1522772"/>
            <a:ext cx="2314575" cy="1362075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914400" y="1571030"/>
            <a:ext cx="42088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940" dirty="0"/>
          </a:p>
        </p:txBody>
      </p:sp>
      <p:sp>
        <p:nvSpPr>
          <p:cNvPr id="11" name="Text 8"/>
          <p:cNvSpPr/>
          <p:nvPr/>
        </p:nvSpPr>
        <p:spPr>
          <a:xfrm>
            <a:off x="914400" y="1920151"/>
            <a:ext cx="2996059" cy="76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Stabilise delayed programs: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 vendor escalations,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backup suppliers and protected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environments</a:t>
            </a:r>
            <a:endParaRPr lang="en-US" sz="1190" dirty="0"/>
          </a:p>
        </p:txBody>
      </p:sp>
      <p:sp>
        <p:nvSpPr>
          <p:cNvPr id="12" name="Shape 9"/>
          <p:cNvSpPr/>
          <p:nvPr/>
        </p:nvSpPr>
        <p:spPr>
          <a:xfrm>
            <a:off x="3414713" y="1522772"/>
            <a:ext cx="2314575" cy="1362075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3413745" y="1571030"/>
            <a:ext cx="4838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940" dirty="0"/>
          </a:p>
        </p:txBody>
      </p:sp>
      <p:sp>
        <p:nvSpPr>
          <p:cNvPr id="14" name="Text 11"/>
          <p:cNvSpPr/>
          <p:nvPr/>
        </p:nvSpPr>
        <p:spPr>
          <a:xfrm>
            <a:off x="3413745" y="1920151"/>
            <a:ext cx="2764758" cy="765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the SOC/SIEM critical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path: add specialist capacity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prioritize critical log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1190" dirty="0"/>
          </a:p>
        </p:txBody>
      </p:sp>
      <p:sp>
        <p:nvSpPr>
          <p:cNvPr id="15" name="Shape 12"/>
          <p:cNvSpPr/>
          <p:nvPr/>
        </p:nvSpPr>
        <p:spPr>
          <a:xfrm>
            <a:off x="5914058" y="1522772"/>
            <a:ext cx="2314575" cy="1362075"/>
          </a:xfrm>
          <a:prstGeom prst="rect">
            <a:avLst/>
          </a:prstGeom>
          <a:ln/>
        </p:spPr>
      </p:sp>
      <p:sp>
        <p:nvSpPr>
          <p:cNvPr id="16" name="Text 13"/>
          <p:cNvSpPr/>
          <p:nvPr/>
        </p:nvSpPr>
        <p:spPr>
          <a:xfrm>
            <a:off x="5913090" y="1571030"/>
            <a:ext cx="48995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4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940" dirty="0"/>
          </a:p>
        </p:txBody>
      </p:sp>
      <p:sp>
        <p:nvSpPr>
          <p:cNvPr id="17" name="Text 14"/>
          <p:cNvSpPr/>
          <p:nvPr/>
        </p:nvSpPr>
        <p:spPr>
          <a:xfrm>
            <a:off x="5913090" y="1920151"/>
            <a:ext cx="2982516" cy="9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the portfolio into an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early-warning system: weekly RAG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with triggers at &lt;90% of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plan, risk score ≥9, or cost</a:t>
            </a:r>
            <a:endParaRPr lang="en-US" sz="1190" dirty="0"/>
          </a:p>
          <a:p>
            <a:pPr marL="0" indent="0" algn="l">
              <a:lnSpc>
                <a:spcPts val="1521"/>
              </a:lnSpc>
              <a:buNone/>
            </a:pPr>
            <a:r>
              <a:rPr lang="en-US" sz="1190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&gt;5%</a:t>
            </a:r>
            <a:endParaRPr lang="en-US" sz="1190" dirty="0"/>
          </a:p>
        </p:txBody>
      </p:sp>
      <p:sp>
        <p:nvSpPr>
          <p:cNvPr id="18" name="Shape 15"/>
          <p:cNvSpPr/>
          <p:nvPr/>
        </p:nvSpPr>
        <p:spPr>
          <a:xfrm>
            <a:off x="914400" y="3345917"/>
            <a:ext cx="7315200" cy="1042988"/>
          </a:xfrm>
          <a:prstGeom prst="rect">
            <a:avLst/>
          </a:prstGeom>
          <a:ln/>
        </p:spPr>
      </p:sp>
      <p:sp>
        <p:nvSpPr>
          <p:cNvPr id="19" name="Text 16"/>
          <p:cNvSpPr/>
          <p:nvPr/>
        </p:nvSpPr>
        <p:spPr>
          <a:xfrm>
            <a:off x="914400" y="3529682"/>
            <a:ext cx="1717082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71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REQUESTED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914400" y="3727996"/>
            <a:ext cx="7796599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550" b="1" kern="0" spc="-4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targeted capacity and vendor intervention now — before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914400" y="3973711"/>
            <a:ext cx="444403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1550" b="1" kern="0" spc="-46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become operational exposure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914400" y="4607942"/>
            <a:ext cx="3203950" cy="1381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 | Executive Review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922193" y="4614788"/>
            <a:ext cx="435678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3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supplied project, milestone, financial and risk register data</a:t>
            </a:r>
            <a:endParaRPr lang="en-US" sz="83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5367" y="1522772"/>
            <a:ext cx="2314575" cy="1362075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4713" y="1522772"/>
            <a:ext cx="2314575" cy="1362075"/>
          </a:xfrm>
          <a:prstGeom prst="rect">
            <a:avLst/>
          </a:prstGeom>
        </p:spPr>
      </p:pic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14058" y="1522772"/>
            <a:ext cx="2314575" cy="1362075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3345917"/>
            <a:ext cx="7315200" cy="1042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6233" y="256208"/>
            <a:ext cx="276225" cy="276225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4" name="Text 1"/>
          <p:cNvSpPr/>
          <p:nvPr/>
        </p:nvSpPr>
        <p:spPr>
          <a:xfrm>
            <a:off x="6854309" y="266700"/>
            <a:ext cx="1832491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60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CYBER PORTFOLIO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188733" y="411063"/>
            <a:ext cx="1498067" cy="90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203"/>
              </a:spcBef>
              <a:buNone/>
            </a:pPr>
            <a:r>
              <a:rPr lang="en-US" sz="560" kern="0" spc="60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4 / PROCESS DESIGN</a:t>
            </a:r>
            <a:endParaRPr lang="en-US" sz="560" dirty="0"/>
          </a:p>
        </p:txBody>
      </p:sp>
      <p:sp>
        <p:nvSpPr>
          <p:cNvPr id="6" name="Text 3"/>
          <p:cNvSpPr/>
          <p:nvPr/>
        </p:nvSpPr>
        <p:spPr>
          <a:xfrm>
            <a:off x="457200" y="4772397"/>
            <a:ext cx="210770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50" b="1" kern="0" spc="65" dirty="0">
                <a:solidFill>
                  <a:srgbClr val="98A2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914400" y="682898"/>
            <a:ext cx="3492133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90" b="1" kern="0" spc="95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4 | PROCESS AND WORKFLOW DESIGN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914400" y="872803"/>
            <a:ext cx="765536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07"/>
              </a:spcBef>
              <a:buNone/>
            </a:pPr>
            <a:r>
              <a:rPr lang="en-US" sz="2270" b="1" kern="0" spc="-9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Cyber Project Progress &amp; Reporting</a:t>
            </a:r>
            <a:endParaRPr lang="en-US" sz="2270" dirty="0"/>
          </a:p>
        </p:txBody>
      </p:sp>
      <p:sp>
        <p:nvSpPr>
          <p:cNvPr id="9" name="Text 6"/>
          <p:cNvSpPr/>
          <p:nvPr/>
        </p:nvSpPr>
        <p:spPr>
          <a:xfrm>
            <a:off x="914400" y="1305297"/>
            <a:ext cx="7774253" cy="401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12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controlled weekly loop from source data to stakeholder action — with validation before</a:t>
            </a:r>
            <a:endParaRPr lang="en-US" sz="1120" dirty="0"/>
          </a:p>
          <a:p>
            <a:pPr marL="0" indent="0" algn="l">
              <a:lnSpc>
                <a:spcPts val="1813"/>
              </a:lnSpc>
              <a:buNone/>
            </a:pPr>
            <a:r>
              <a:rPr lang="en-US" sz="112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reaches the dashboard.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914772" y="1984511"/>
            <a:ext cx="1576388" cy="2047875"/>
          </a:xfrm>
          <a:prstGeom prst="rect">
            <a:avLst/>
          </a:prstGeom>
          <a:solidFill>
            <a:srgbClr val="FBFCFE">
              <a:alpha val="92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19696" y="2070422"/>
            <a:ext cx="29957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19696" y="2311375"/>
            <a:ext cx="133225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0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collection</a:t>
            </a:r>
            <a:endParaRPr lang="en-US" sz="1040" dirty="0"/>
          </a:p>
        </p:txBody>
      </p:sp>
      <p:sp>
        <p:nvSpPr>
          <p:cNvPr id="13" name="Text 10"/>
          <p:cNvSpPr/>
          <p:nvPr/>
        </p:nvSpPr>
        <p:spPr>
          <a:xfrm>
            <a:off x="1019696" y="2525762"/>
            <a:ext cx="139068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PMs update MySQL</a:t>
            </a:r>
            <a:endParaRPr lang="en-US" sz="860" dirty="0"/>
          </a:p>
        </p:txBody>
      </p:sp>
      <p:sp>
        <p:nvSpPr>
          <p:cNvPr id="14" name="Text 11"/>
          <p:cNvSpPr/>
          <p:nvPr/>
        </p:nvSpPr>
        <p:spPr>
          <a:xfrm>
            <a:off x="1019696" y="2661865"/>
            <a:ext cx="113462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tables: Projects,</a:t>
            </a:r>
            <a:endParaRPr lang="en-US" sz="860" dirty="0"/>
          </a:p>
        </p:txBody>
      </p:sp>
      <p:sp>
        <p:nvSpPr>
          <p:cNvPr id="15" name="Text 12"/>
          <p:cNvSpPr/>
          <p:nvPr/>
        </p:nvSpPr>
        <p:spPr>
          <a:xfrm>
            <a:off x="1019696" y="2797969"/>
            <a:ext cx="129956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Milestones, Tasks,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1019696" y="2934072"/>
            <a:ext cx="120543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Risks_Issues and</a:t>
            </a:r>
            <a:endParaRPr lang="en-US" sz="860" dirty="0"/>
          </a:p>
        </p:txBody>
      </p:sp>
      <p:sp>
        <p:nvSpPr>
          <p:cNvPr id="17" name="Text 14"/>
          <p:cNvSpPr/>
          <p:nvPr/>
        </p:nvSpPr>
        <p:spPr>
          <a:xfrm>
            <a:off x="1019696" y="3070175"/>
            <a:ext cx="80735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Resources.</a:t>
            </a:r>
            <a:endParaRPr lang="en-US" sz="860" dirty="0"/>
          </a:p>
        </p:txBody>
      </p:sp>
      <p:sp>
        <p:nvSpPr>
          <p:cNvPr id="18" name="Text 15"/>
          <p:cNvSpPr/>
          <p:nvPr/>
        </p:nvSpPr>
        <p:spPr>
          <a:xfrm>
            <a:off x="1019696" y="3369692"/>
            <a:ext cx="1351605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760" b="1" kern="0" spc="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PM / PMO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2582689" y="2895079"/>
            <a:ext cx="2563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2827437" y="1984511"/>
            <a:ext cx="1576388" cy="2047875"/>
          </a:xfrm>
          <a:prstGeom prst="rect">
            <a:avLst/>
          </a:prstGeom>
          <a:solidFill>
            <a:srgbClr val="FBFCFE">
              <a:alpha val="92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932361" y="2070422"/>
            <a:ext cx="34156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932361" y="2311375"/>
            <a:ext cx="164868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0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&amp; approve</a:t>
            </a:r>
            <a:endParaRPr lang="en-US" sz="1040" dirty="0"/>
          </a:p>
        </p:txBody>
      </p:sp>
      <p:sp>
        <p:nvSpPr>
          <p:cNvPr id="23" name="Text 20"/>
          <p:cNvSpPr/>
          <p:nvPr/>
        </p:nvSpPr>
        <p:spPr>
          <a:xfrm>
            <a:off x="2932361" y="2525762"/>
            <a:ext cx="179718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 checks completeness,</a:t>
            </a:r>
            <a:endParaRPr lang="en-US" sz="860" dirty="0"/>
          </a:p>
        </p:txBody>
      </p:sp>
      <p:sp>
        <p:nvSpPr>
          <p:cNvPr id="24" name="Text 21"/>
          <p:cNvSpPr/>
          <p:nvPr/>
        </p:nvSpPr>
        <p:spPr>
          <a:xfrm>
            <a:off x="2932361" y="2661865"/>
            <a:ext cx="142967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dates, Planned % vs</a:t>
            </a:r>
            <a:endParaRPr lang="en-US" sz="860" dirty="0"/>
          </a:p>
        </p:txBody>
      </p:sp>
      <p:sp>
        <p:nvSpPr>
          <p:cNvPr id="25" name="Text 22"/>
          <p:cNvSpPr/>
          <p:nvPr/>
        </p:nvSpPr>
        <p:spPr>
          <a:xfrm>
            <a:off x="2932361" y="2797969"/>
            <a:ext cx="152283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 %, status, cost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2932361" y="2934072"/>
            <a:ext cx="174329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and risk scores.</a:t>
            </a:r>
            <a:endParaRPr lang="en-US" sz="860" dirty="0"/>
          </a:p>
        </p:txBody>
      </p:sp>
      <p:sp>
        <p:nvSpPr>
          <p:cNvPr id="27" name="Text 24"/>
          <p:cNvSpPr/>
          <p:nvPr/>
        </p:nvSpPr>
        <p:spPr>
          <a:xfrm>
            <a:off x="2932361" y="3233589"/>
            <a:ext cx="1423772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b="1" kern="0" spc="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GATE: APPROVE OR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b="1" kern="0" spc="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4495354" y="2895079"/>
            <a:ext cx="2563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40" dirty="0"/>
          </a:p>
        </p:txBody>
      </p:sp>
      <p:sp>
        <p:nvSpPr>
          <p:cNvPr id="29" name="Shape 26"/>
          <p:cNvSpPr/>
          <p:nvPr/>
        </p:nvSpPr>
        <p:spPr>
          <a:xfrm>
            <a:off x="4740101" y="1984511"/>
            <a:ext cx="1576388" cy="2047875"/>
          </a:xfrm>
          <a:prstGeom prst="rect">
            <a:avLst/>
          </a:prstGeom>
          <a:solidFill>
            <a:srgbClr val="FBFCFE">
              <a:alpha val="92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845025" y="2070422"/>
            <a:ext cx="34562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4845025" y="2311375"/>
            <a:ext cx="173246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0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&amp; dashboard</a:t>
            </a:r>
            <a:endParaRPr lang="en-US" sz="1040" dirty="0"/>
          </a:p>
        </p:txBody>
      </p:sp>
      <p:sp>
        <p:nvSpPr>
          <p:cNvPr id="32" name="Text 29"/>
          <p:cNvSpPr/>
          <p:nvPr/>
        </p:nvSpPr>
        <p:spPr>
          <a:xfrm>
            <a:off x="4845025" y="2454548"/>
            <a:ext cx="65538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0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</a:t>
            </a:r>
            <a:endParaRPr lang="en-US" sz="1040" dirty="0"/>
          </a:p>
        </p:txBody>
      </p:sp>
      <p:sp>
        <p:nvSpPr>
          <p:cNvPr id="33" name="Text 30"/>
          <p:cNvSpPr/>
          <p:nvPr/>
        </p:nvSpPr>
        <p:spPr>
          <a:xfrm>
            <a:off x="4845025" y="2668935"/>
            <a:ext cx="167877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validated MySQL</a:t>
            </a:r>
            <a:endParaRPr lang="en-US" sz="860" dirty="0"/>
          </a:p>
        </p:txBody>
      </p:sp>
      <p:sp>
        <p:nvSpPr>
          <p:cNvPr id="34" name="Text 31"/>
          <p:cNvSpPr/>
          <p:nvPr/>
        </p:nvSpPr>
        <p:spPr>
          <a:xfrm>
            <a:off x="4845025" y="2805038"/>
            <a:ext cx="14203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 to dated CSV,</a:t>
            </a:r>
            <a:endParaRPr lang="en-US" sz="860" dirty="0"/>
          </a:p>
        </p:txBody>
      </p:sp>
      <p:sp>
        <p:nvSpPr>
          <p:cNvPr id="35" name="Text 32"/>
          <p:cNvSpPr/>
          <p:nvPr/>
        </p:nvSpPr>
        <p:spPr>
          <a:xfrm>
            <a:off x="4845025" y="2941141"/>
            <a:ext cx="1638627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Power BI Power</a:t>
            </a:r>
            <a:endParaRPr lang="en-US" sz="860" dirty="0"/>
          </a:p>
        </p:txBody>
      </p:sp>
      <p:sp>
        <p:nvSpPr>
          <p:cNvPr id="36" name="Text 33"/>
          <p:cNvSpPr/>
          <p:nvPr/>
        </p:nvSpPr>
        <p:spPr>
          <a:xfrm>
            <a:off x="4845025" y="3077245"/>
            <a:ext cx="177522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Query, then confirm RAG,</a:t>
            </a:r>
            <a:endParaRPr lang="en-US" sz="860" dirty="0"/>
          </a:p>
        </p:txBody>
      </p:sp>
      <p:sp>
        <p:nvSpPr>
          <p:cNvPr id="37" name="Text 34"/>
          <p:cNvSpPr/>
          <p:nvPr/>
        </p:nvSpPr>
        <p:spPr>
          <a:xfrm>
            <a:off x="4845025" y="3213348"/>
            <a:ext cx="161009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schedule, financial and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4845025" y="3349451"/>
            <a:ext cx="845664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visuals.</a:t>
            </a:r>
            <a:endParaRPr lang="en-US" sz="860" dirty="0"/>
          </a:p>
        </p:txBody>
      </p:sp>
      <p:sp>
        <p:nvSpPr>
          <p:cNvPr id="39" name="Text 36"/>
          <p:cNvSpPr/>
          <p:nvPr/>
        </p:nvSpPr>
        <p:spPr>
          <a:xfrm>
            <a:off x="4845025" y="3648968"/>
            <a:ext cx="1467401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760" b="1" kern="0" spc="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CONTROL: REFRESH</a:t>
            </a:r>
            <a:endParaRPr lang="en-US" sz="760" dirty="0"/>
          </a:p>
          <a:p>
            <a:pPr marL="0" indent="0" algn="l">
              <a:lnSpc>
                <a:spcPts val="1134"/>
              </a:lnSpc>
              <a:buNone/>
            </a:pPr>
            <a:r>
              <a:rPr lang="en-US" sz="760" b="1" kern="0" spc="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endParaRPr lang="en-US" sz="760" dirty="0"/>
          </a:p>
        </p:txBody>
      </p:sp>
      <p:sp>
        <p:nvSpPr>
          <p:cNvPr id="40" name="Text 37"/>
          <p:cNvSpPr/>
          <p:nvPr/>
        </p:nvSpPr>
        <p:spPr>
          <a:xfrm>
            <a:off x="6408018" y="2895079"/>
            <a:ext cx="25633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40" dirty="0"/>
          </a:p>
        </p:txBody>
      </p:sp>
      <p:sp>
        <p:nvSpPr>
          <p:cNvPr id="41" name="Shape 38"/>
          <p:cNvSpPr/>
          <p:nvPr/>
        </p:nvSpPr>
        <p:spPr>
          <a:xfrm>
            <a:off x="6652803" y="1984511"/>
            <a:ext cx="1576388" cy="2047875"/>
          </a:xfrm>
          <a:prstGeom prst="rect">
            <a:avLst/>
          </a:prstGeom>
          <a:solidFill>
            <a:srgbClr val="FBFCFE">
              <a:alpha val="92000"/>
            </a:srgbClr>
          </a:solidFill>
          <a:ln w="4763">
            <a:solidFill>
              <a:srgbClr val="DBE3EA"/>
            </a:solidFill>
            <a:prstDash val="solid"/>
          </a:ln>
          <a:effectLst>
            <a:outerShdw blurRad="102870" dist="51435" dir="5400000" algn="bl" rotWithShape="0">
              <a:srgbClr val="3D5A80">
                <a:alpha val="6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757690" y="2070422"/>
            <a:ext cx="35249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5A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757690" y="2311375"/>
            <a:ext cx="109128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0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</a:t>
            </a:r>
            <a:endParaRPr lang="en-US" sz="1040" dirty="0"/>
          </a:p>
        </p:txBody>
      </p:sp>
      <p:sp>
        <p:nvSpPr>
          <p:cNvPr id="44" name="Text 41"/>
          <p:cNvSpPr/>
          <p:nvPr/>
        </p:nvSpPr>
        <p:spPr>
          <a:xfrm>
            <a:off x="6757690" y="2454548"/>
            <a:ext cx="85485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527"/>
              </a:spcBef>
              <a:buNone/>
            </a:pPr>
            <a:r>
              <a:rPr lang="en-US" sz="104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</a:t>
            </a:r>
            <a:endParaRPr lang="en-US" sz="1040" dirty="0"/>
          </a:p>
        </p:txBody>
      </p:sp>
      <p:sp>
        <p:nvSpPr>
          <p:cNvPr id="45" name="Text 42"/>
          <p:cNvSpPr/>
          <p:nvPr/>
        </p:nvSpPr>
        <p:spPr>
          <a:xfrm>
            <a:off x="6757690" y="2668935"/>
            <a:ext cx="1753359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the dashboard and</a:t>
            </a:r>
            <a:endParaRPr lang="en-US" sz="860" dirty="0"/>
          </a:p>
        </p:txBody>
      </p:sp>
      <p:sp>
        <p:nvSpPr>
          <p:cNvPr id="46" name="Text 43"/>
          <p:cNvSpPr/>
          <p:nvPr/>
        </p:nvSpPr>
        <p:spPr>
          <a:xfrm>
            <a:off x="6757690" y="2805038"/>
            <a:ext cx="16902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 with</a:t>
            </a:r>
            <a:endParaRPr lang="en-US" sz="860" dirty="0"/>
          </a:p>
        </p:txBody>
      </p:sp>
      <p:sp>
        <p:nvSpPr>
          <p:cNvPr id="47" name="Text 44"/>
          <p:cNvSpPr/>
          <p:nvPr/>
        </p:nvSpPr>
        <p:spPr>
          <a:xfrm>
            <a:off x="6757690" y="2941141"/>
            <a:ext cx="176709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CISO, sponsors and PMs;</a:t>
            </a:r>
            <a:endParaRPr lang="en-US" sz="860" dirty="0"/>
          </a:p>
        </p:txBody>
      </p:sp>
      <p:sp>
        <p:nvSpPr>
          <p:cNvPr id="48" name="Text 45"/>
          <p:cNvSpPr/>
          <p:nvPr/>
        </p:nvSpPr>
        <p:spPr>
          <a:xfrm>
            <a:off x="6757690" y="3077245"/>
            <a:ext cx="154595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decisions and</a:t>
            </a:r>
            <a:endParaRPr lang="en-US" sz="860" dirty="0"/>
          </a:p>
        </p:txBody>
      </p:sp>
      <p:sp>
        <p:nvSpPr>
          <p:cNvPr id="49" name="Text 46"/>
          <p:cNvSpPr/>
          <p:nvPr/>
        </p:nvSpPr>
        <p:spPr>
          <a:xfrm>
            <a:off x="6757690" y="3213348"/>
            <a:ext cx="586018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86"/>
              </a:spcBef>
              <a:buNone/>
            </a:pPr>
            <a:r>
              <a:rPr lang="en-US" sz="860" dirty="0">
                <a:solidFill>
                  <a:srgbClr val="4754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actions.</a:t>
            </a:r>
            <a:endParaRPr lang="en-US" sz="860" dirty="0"/>
          </a:p>
        </p:txBody>
      </p:sp>
      <p:sp>
        <p:nvSpPr>
          <p:cNvPr id="50" name="Text 47"/>
          <p:cNvSpPr/>
          <p:nvPr/>
        </p:nvSpPr>
        <p:spPr>
          <a:xfrm>
            <a:off x="6757690" y="3512865"/>
            <a:ext cx="1606510" cy="1190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729"/>
              </a:spcBef>
              <a:buNone/>
            </a:pPr>
            <a:r>
              <a:rPr lang="en-US" sz="760" b="1" kern="0" spc="60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ACTION LOG</a:t>
            </a:r>
            <a:endParaRPr lang="en-US" sz="760" dirty="0"/>
          </a:p>
        </p:txBody>
      </p:sp>
      <p:sp>
        <p:nvSpPr>
          <p:cNvPr id="51" name="Shape 48"/>
          <p:cNvSpPr/>
          <p:nvPr/>
        </p:nvSpPr>
        <p:spPr>
          <a:xfrm>
            <a:off x="914400" y="4237211"/>
            <a:ext cx="7315200" cy="771525"/>
          </a:xfrm>
          <a:prstGeom prst="rect">
            <a:avLst/>
          </a:prstGeom>
          <a:ln/>
        </p:spPr>
      </p:sp>
      <p:sp>
        <p:nvSpPr>
          <p:cNvPr id="52" name="Shape 49"/>
          <p:cNvSpPr/>
          <p:nvPr/>
        </p:nvSpPr>
        <p:spPr>
          <a:xfrm>
            <a:off x="915033" y="4494647"/>
            <a:ext cx="38100" cy="71438"/>
          </a:xfrm>
          <a:prstGeom prst="rect">
            <a:avLst/>
          </a:prstGeom>
          <a:solidFill>
            <a:srgbClr val="EE6C4D"/>
          </a:solidFill>
          <a:ln/>
        </p:spPr>
      </p:sp>
      <p:sp>
        <p:nvSpPr>
          <p:cNvPr id="53" name="Text 50"/>
          <p:cNvSpPr/>
          <p:nvPr/>
        </p:nvSpPr>
        <p:spPr>
          <a:xfrm>
            <a:off x="1045146" y="4460245"/>
            <a:ext cx="5310619" cy="32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104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 loop: failed validation or refresh → return to owner →</a:t>
            </a:r>
            <a:endParaRPr lang="en-US" sz="1040" dirty="0"/>
          </a:p>
          <a:p>
            <a:pPr marL="0" indent="0" algn="l">
              <a:lnSpc>
                <a:spcPts val="1305"/>
              </a:lnSpc>
              <a:buNone/>
            </a:pPr>
            <a:r>
              <a:rPr lang="en-US" sz="1040" b="1" dirty="0">
                <a:solidFill>
                  <a:srgbClr val="3440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source data → revalidate → re-export → refresh again</a:t>
            </a:r>
            <a:endParaRPr lang="en-US" sz="1040" dirty="0"/>
          </a:p>
        </p:txBody>
      </p:sp>
      <p:sp>
        <p:nvSpPr>
          <p:cNvPr id="54" name="Text 51"/>
          <p:cNvSpPr/>
          <p:nvPr/>
        </p:nvSpPr>
        <p:spPr>
          <a:xfrm>
            <a:off x="5711622" y="4374579"/>
            <a:ext cx="2517978" cy="489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04"/>
              </a:lnSpc>
              <a:buNone/>
            </a:pPr>
            <a:r>
              <a:rPr lang="en-US" sz="860" b="1" kern="0" spc="69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CUT-OFF: THURSDAY</a:t>
            </a:r>
            <a:endParaRPr lang="en-US" sz="860" dirty="0"/>
          </a:p>
          <a:p>
            <a:pPr marL="0" indent="0" algn="r">
              <a:lnSpc>
                <a:spcPts val="1404"/>
              </a:lnSpc>
              <a:buNone/>
            </a:pPr>
            <a:r>
              <a:rPr lang="en-US" sz="860" b="1" kern="0" spc="69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REFRESH: FRIDAY</a:t>
            </a:r>
            <a:endParaRPr lang="en-US" sz="860" dirty="0"/>
          </a:p>
          <a:p>
            <a:pPr marL="0" indent="0" algn="r">
              <a:lnSpc>
                <a:spcPts val="1404"/>
              </a:lnSpc>
              <a:buNone/>
            </a:pPr>
            <a:r>
              <a:rPr lang="en-US" sz="860" b="1" kern="0" spc="69" dirty="0">
                <a:solidFill>
                  <a:srgbClr val="6670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REVIEW: MONDAY</a:t>
            </a:r>
            <a:endParaRPr lang="en-US" sz="860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547" y="3299110"/>
            <a:ext cx="1366837" cy="204787"/>
          </a:xfrm>
          <a:prstGeom prst="rect">
            <a:avLst/>
          </a:prstGeom>
        </p:spPr>
      </p:pic>
      <p:pic>
        <p:nvPicPr>
          <p:cNvPr id="5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2212" y="3163565"/>
            <a:ext cx="1366837" cy="347663"/>
          </a:xfrm>
          <a:prstGeom prst="rect">
            <a:avLst/>
          </a:prstGeom>
        </p:spPr>
      </p:pic>
      <p:pic>
        <p:nvPicPr>
          <p:cNvPr id="5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4876" y="3578944"/>
            <a:ext cx="1366837" cy="347663"/>
          </a:xfrm>
          <a:prstGeom prst="rect">
            <a:avLst/>
          </a:prstGeom>
        </p:spPr>
      </p:pic>
      <p:pic>
        <p:nvPicPr>
          <p:cNvPr id="5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57578" y="3442283"/>
            <a:ext cx="1366837" cy="204787"/>
          </a:xfrm>
          <a:prstGeom prst="rect">
            <a:avLst/>
          </a:prstGeom>
        </p:spPr>
      </p:pic>
      <p:pic>
        <p:nvPicPr>
          <p:cNvPr id="5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4237211"/>
            <a:ext cx="73152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1A919A-94D9-F704-F0C0-39568237B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4229"/>
            <a:ext cx="9076544" cy="524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87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754</Words>
  <Application>Microsoft Office PowerPoint</Application>
  <PresentationFormat>On-screen Show (16:9)</PresentationFormat>
  <Paragraphs>216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2026-09-06T03:54:22Z</dcterms:created>
  <dcterms:modified xsi:type="dcterms:W3CDTF">2026-09-06T04:19:55Z</dcterms:modified>
</cp:coreProperties>
</file>